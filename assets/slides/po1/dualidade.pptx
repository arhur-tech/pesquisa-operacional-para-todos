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Play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hVZEDJDMV8oYs8p1kh8IiF8DH5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7DF9D1-9AB2-4D98-A5D1-5EC92340E18A}">
  <a:tblStyle styleId="{907DF9D1-9AB2-4D98-A5D1-5EC92340E18A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84" name="Google Shape;84;p1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4861"/>
              </a:buClr>
              <a:buSzPct val="100000"/>
              <a:buFont typeface="Bookman Old Style"/>
              <a:buNone/>
            </a:pPr>
            <a:r>
              <a:rPr b="1" lang="pt-BR">
                <a:solidFill>
                  <a:srgbClr val="0F486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Pesquisa Operacional I</a:t>
            </a:r>
            <a:br>
              <a:rPr b="1" lang="pt-BR">
                <a:solidFill>
                  <a:srgbClr val="0F486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1" lang="pt-BR">
                <a:solidFill>
                  <a:srgbClr val="0F486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Dualidade</a:t>
            </a:r>
            <a:endParaRPr/>
          </a:p>
        </p:txBody>
      </p:sp>
      <p:sp>
        <p:nvSpPr>
          <p:cNvPr id="86" name="Google Shape;86;p1"/>
          <p:cNvSpPr txBox="1"/>
          <p:nvPr>
            <p:ph idx="1" type="subTitle"/>
          </p:nvPr>
        </p:nvSpPr>
        <p:spPr>
          <a:xfrm>
            <a:off x="1524000" y="44168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15254"/>
              </a:buClr>
              <a:buSzPts val="2400"/>
              <a:buNone/>
            </a:pPr>
            <a:r>
              <a:rPr lang="pt-BR" sz="2400">
                <a:solidFill>
                  <a:srgbClr val="515254"/>
                </a:solidFill>
                <a:latin typeface="Arial"/>
                <a:ea typeface="Arial"/>
                <a:cs typeface="Arial"/>
                <a:sym typeface="Arial"/>
              </a:rPr>
              <a:t>Profª Andréa Bonifácio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15254"/>
              </a:buClr>
              <a:buSzPts val="2400"/>
              <a:buNone/>
            </a:pPr>
            <a:r>
              <a:rPr lang="pt-BR" sz="2400">
                <a:solidFill>
                  <a:srgbClr val="515254"/>
                </a:solidFill>
                <a:latin typeface="Arial"/>
                <a:ea typeface="Arial"/>
                <a:cs typeface="Arial"/>
                <a:sym typeface="Arial"/>
              </a:rPr>
              <a:t>Email: andreabonifacio@uniriotec.br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Ícone&#10;&#10;O conteúdo gerado por IA pode estar incorreto."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92" name="Google Shape;92;p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>
            <p:ph type="ctrTitle"/>
          </p:nvPr>
        </p:nvSpPr>
        <p:spPr>
          <a:xfrm>
            <a:off x="1524000" y="1122363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ct val="100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Dualidade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94" name="Google Shape;94;p2"/>
          <p:cNvSpPr txBox="1"/>
          <p:nvPr>
            <p:ph idx="1" type="subTitle"/>
          </p:nvPr>
        </p:nvSpPr>
        <p:spPr>
          <a:xfrm>
            <a:off x="1524000" y="2136618"/>
            <a:ext cx="9144000" cy="3935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Todo PPL, que chamaremos primal, traz consigo um segundo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problema, chamado dual, sendo ambos completamente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inter-relacionados, de tal maneira que a solução ótima de um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fornece informações completas sobre o outro.</a:t>
            </a:r>
            <a:endParaRPr/>
          </a:p>
        </p:txBody>
      </p:sp>
      <p:pic>
        <p:nvPicPr>
          <p:cNvPr descr="Ícone&#10;&#10;O conteúdo gerado por IA pode estar incorreto."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00" name="Google Shape;100;p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2663526" cy="666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ct val="100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Forma </a:t>
            </a: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Canônica da</a:t>
            </a:r>
            <a:r>
              <a:rPr b="1" lang="pt-BR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Dualidade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Considere o seguinte PPL primal: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 : min </a:t>
            </a: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cx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Ax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</a:t>
            </a: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Ícone&#10;&#10;O conteúdo gerado por IA pode estar incorreto." id="103" name="Google Shape;1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O dual desse PPL é: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D : max </a:t>
            </a: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wb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wA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≤ </a:t>
            </a: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09" name="Google Shape;109;p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Ícone&#10;&#10;O conteúdo gerado por IA pode estar incorreto." id="111" name="Google Shape;11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1524000" y="880002"/>
            <a:ext cx="9296400" cy="872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 termos mais específicos, temos: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Primal: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min z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= c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c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. . . + c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n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. . .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≥ b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. . .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≥ b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+a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+. . .+a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≥ b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, 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, . . . , x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≥ 0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Dual: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max z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= b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b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+. . . + b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. . .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≤ c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. . .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≤ c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+ . . . + a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mn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≤ c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n</a:t>
            </a:r>
            <a:endParaRPr b="1"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,w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, . . . ,w</a:t>
            </a:r>
            <a:r>
              <a:rPr b="1" baseline="-25000" lang="pt-BR" sz="2400"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lang="pt-BR" sz="2400">
                <a:latin typeface="Calibri"/>
                <a:ea typeface="Calibri"/>
                <a:cs typeface="Calibri"/>
                <a:sym typeface="Calibri"/>
              </a:rPr>
              <a:t> ≥ 0</a:t>
            </a:r>
            <a:endParaRPr b="1"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20" name="Google Shape;120;p5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>
            <p:ph type="ctrTitle"/>
          </p:nvPr>
        </p:nvSpPr>
        <p:spPr>
          <a:xfrm>
            <a:off x="1524000" y="1122363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ct val="100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Observação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22" name="Google Shape;122;p5"/>
          <p:cNvSpPr txBox="1"/>
          <p:nvPr>
            <p:ph idx="1" type="subTitle"/>
          </p:nvPr>
        </p:nvSpPr>
        <p:spPr>
          <a:xfrm>
            <a:off x="1401482" y="2150686"/>
            <a:ext cx="9389036" cy="3935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O problema dual  é construído a partir do primal da seguinte maneira: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1. Cada restrição em um problema corresponde a uma variável no outro problema.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2. Cada variável de um problema corresponde a uma restrição no outro problema.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3. Os elementos do lado direito das restrições, em um problema, são coeficientes da função objetivo do outro problema e vice-versa.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4. Se o objetivo de um problema é minimizar, o do outro é maximizar, e vice-versa.</a:t>
            </a:r>
            <a:endParaRPr/>
          </a:p>
        </p:txBody>
      </p:sp>
      <p:pic>
        <p:nvPicPr>
          <p:cNvPr descr="Ícone&#10;&#10;O conteúdo gerado por IA pode estar incorreto." id="123" name="Google Shape;12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28" name="Google Shape;128;p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>
            <p:ph type="ctrTitle"/>
          </p:nvPr>
        </p:nvSpPr>
        <p:spPr>
          <a:xfrm>
            <a:off x="1524000" y="643539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ct val="100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Exemplo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0" name="Google Shape;130;p6"/>
          <p:cNvSpPr txBox="1"/>
          <p:nvPr>
            <p:ph idx="1" type="subTitle"/>
          </p:nvPr>
        </p:nvSpPr>
        <p:spPr>
          <a:xfrm>
            <a:off x="1401482" y="1758462"/>
            <a:ext cx="9389036" cy="4328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Para o PPL a seguir determine o seu dual: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 : min 6x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+ 8x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3x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4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5x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+ 2x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7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, 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/>
          </a:p>
        </p:txBody>
      </p:sp>
      <p:pic>
        <p:nvPicPr>
          <p:cNvPr descr="Ícone&#10;&#10;O conteúdo gerado por IA pode estar incorreto." id="131" name="Google Shape;13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36" name="Google Shape;136;p7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ts val="6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Exemplo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Para o PPL a seguir determine o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seu dual: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 : min 6x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+ 8x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3x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+ 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4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5x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+ 2x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7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, 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Ícone&#10;&#10;O conteúdo gerado por IA pode estar incorreto." id="139" name="Google Shape;1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7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O dual desse PPL  ́e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D : max 4w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/>
              <a:t> + 7w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3w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/>
              <a:t> + 5w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/>
              <a:t> ≤ 6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/>
              <a:t> + 2w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/>
              <a:t> ≤ 8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/>
              <a:t>,w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/>
              <a:t> ≥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45" name="Google Shape;145;p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ts val="4000"/>
              <a:buFont typeface="Bookman Old Style"/>
              <a:buNone/>
            </a:pPr>
            <a:r>
              <a:rPr b="1" lang="pt-BR" sz="4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Lema: </a:t>
            </a:r>
            <a:r>
              <a:rPr b="1" i="1" lang="pt-BR" sz="4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 dual do dual é o primal</a:t>
            </a:r>
            <a:endParaRPr i="1" sz="4000"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Prova: 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Considere o dual na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forma canônica: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Max </a:t>
            </a: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wb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wA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≤ </a:t>
            </a: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Ícone&#10;&#10;O conteúdo gerado por IA pode estar incorreto." id="148" name="Google Shape;14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/>
              <a:t>Este PPL  é equivalente a</a:t>
            </a:r>
            <a:endParaRPr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/>
              <a:t>min </a:t>
            </a:r>
            <a:r>
              <a:rPr i="1" lang="pt-BR" sz="2400"/>
              <a:t>−wb</a:t>
            </a:r>
            <a:endParaRPr i="1"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/>
              <a:t>sujeito a</a:t>
            </a:r>
            <a:endParaRPr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pt-BR" sz="2400"/>
              <a:t>wA</a:t>
            </a:r>
            <a:r>
              <a:rPr lang="pt-BR" sz="2400"/>
              <a:t> ≤ </a:t>
            </a:r>
            <a:r>
              <a:rPr i="1" lang="pt-BR" sz="2400"/>
              <a:t>c</a:t>
            </a:r>
            <a:endParaRPr sz="2400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i="1" lang="pt-BR" sz="2400"/>
              <a:t>w</a:t>
            </a:r>
            <a:r>
              <a:rPr lang="pt-BR" sz="2400"/>
              <a:t> ≥ 0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54" name="Google Shape;154;p9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9"/>
          <p:cNvSpPr txBox="1"/>
          <p:nvPr>
            <p:ph type="ctrTitle"/>
          </p:nvPr>
        </p:nvSpPr>
        <p:spPr>
          <a:xfrm>
            <a:off x="1524000" y="264248"/>
            <a:ext cx="9144000" cy="916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ts val="4400"/>
              <a:buFont typeface="Bookman Old Style"/>
              <a:buNone/>
            </a:pPr>
            <a:r>
              <a:rPr b="1" lang="pt-BR" sz="44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 dual do dual</a:t>
            </a:r>
            <a:endParaRPr sz="4400"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56" name="Google Shape;156;p9"/>
          <p:cNvSpPr txBox="1"/>
          <p:nvPr>
            <p:ph idx="1" type="subTitle"/>
          </p:nvPr>
        </p:nvSpPr>
        <p:spPr>
          <a:xfrm>
            <a:off x="1401482" y="1223889"/>
            <a:ext cx="9389036" cy="4328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Resolver o PPL anterior equivale a resolver o PPL: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min(−b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)w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endParaRPr baseline="30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(−A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)w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−c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endParaRPr baseline="30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O dual deste PPL  é dado por: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max x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(−c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(−A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) ≤ −b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endParaRPr baseline="30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30000" lang="pt-BR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/>
          </a:p>
        </p:txBody>
      </p:sp>
      <p:pic>
        <p:nvPicPr>
          <p:cNvPr descr="Ícone&#10;&#10;O conteúdo gerado por IA pode estar incorreto." id="157" name="Google Shape;15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62" name="Google Shape;162;p10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 txBox="1"/>
          <p:nvPr>
            <p:ph type="ctrTitle"/>
          </p:nvPr>
        </p:nvSpPr>
        <p:spPr>
          <a:xfrm>
            <a:off x="1524000" y="264248"/>
            <a:ext cx="9144000" cy="916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ts val="4400"/>
              <a:buFont typeface="Bookman Old Style"/>
              <a:buNone/>
            </a:pPr>
            <a:r>
              <a:rPr b="1" lang="pt-BR" sz="44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 dual do dual</a:t>
            </a:r>
            <a:endParaRPr sz="4400"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64" name="Google Shape;164;p10"/>
          <p:cNvSpPr txBox="1"/>
          <p:nvPr>
            <p:ph idx="1" type="subTitle"/>
          </p:nvPr>
        </p:nvSpPr>
        <p:spPr>
          <a:xfrm>
            <a:off x="1401482" y="1223889"/>
            <a:ext cx="9389036" cy="4328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Que equivale a: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min </a:t>
            </a: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cx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Ax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</a:t>
            </a: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que  é precisamente o problema primal.</a:t>
            </a:r>
            <a:endParaRPr/>
          </a:p>
        </p:txBody>
      </p:sp>
      <p:pic>
        <p:nvPicPr>
          <p:cNvPr descr="Ícone&#10;&#10;O conteúdo gerado por IA pode estar incorreto." id="165" name="Google Shape;16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70" name="Google Shape;170;p11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1"/>
          <p:cNvSpPr txBox="1"/>
          <p:nvPr>
            <p:ph type="ctrTitle"/>
          </p:nvPr>
        </p:nvSpPr>
        <p:spPr>
          <a:xfrm>
            <a:off x="1524000" y="643539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ts val="3600"/>
              <a:buFont typeface="Bookman Old Style"/>
              <a:buNone/>
            </a:pPr>
            <a:r>
              <a:rPr b="1" lang="pt-BR" sz="36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Tabela de equivalências para construir o dual</a:t>
            </a:r>
            <a:endParaRPr sz="3600"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descr="Ícone&#10;&#10;O conteúdo gerado por IA pode estar incorreto." id="172" name="Google Shape;17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11"/>
          <p:cNvGraphicFramePr/>
          <p:nvPr/>
        </p:nvGraphicFramePr>
        <p:xfrm>
          <a:off x="2032000" y="184392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{907DF9D1-9AB2-4D98-A5D1-5EC92340E18A}</a:tableStyleId>
              </a:tblPr>
              <a:tblGrid>
                <a:gridCol w="4064000"/>
                <a:gridCol w="4064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Problema de Maximização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Problema de Minimização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Restrições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pt-BR" sz="1800" u="none" cap="none" strike="noStrike"/>
                        <a:t>Variáveis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≥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≤ 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≤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≥ 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Livre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Variáveis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/>
                        <a:t>Restrições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≥ 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≥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≤ 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≤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Livre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=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78" name="Google Shape;178;p1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2"/>
          <p:cNvSpPr txBox="1"/>
          <p:nvPr>
            <p:ph type="ctrTitle"/>
          </p:nvPr>
        </p:nvSpPr>
        <p:spPr>
          <a:xfrm>
            <a:off x="1524000" y="643539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ct val="100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Exemplo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0" name="Google Shape;180;p12"/>
          <p:cNvSpPr txBox="1"/>
          <p:nvPr>
            <p:ph idx="1" type="subTitle"/>
          </p:nvPr>
        </p:nvSpPr>
        <p:spPr>
          <a:xfrm>
            <a:off x="1401482" y="1730326"/>
            <a:ext cx="9389036" cy="43563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Para o PPL a seguir determine o seu dual: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 : max 8x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+ 3x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− 6x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2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5x1 + 7x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= −4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≤ 0, 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Ícone&#10;&#10;O conteúdo gerado por IA pode estar incorreto." id="181" name="Google Shape;18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86" name="Google Shape;186;p13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ts val="6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Exemplo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8" name="Google Shape;188;p1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Para o PPL a seguir determine o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seu dual: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 : max 8x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+ 3x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− 6x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2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5x1 + 7x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= 4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≤ 0, 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 ≥ 0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Ícone&#10;&#10;O conteúdo gerado por IA pode estar incorreto." id="189" name="Google Shape;1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O dual desse PPL  é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D : min 2w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/>
              <a:t> + 4w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sujeito 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/>
              <a:t> + 5w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/>
              <a:t> ≤ 8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−6w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/>
              <a:t> + 7w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/>
              <a:t> ≥ 3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/>
              <a:t>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pt-BR"/>
              <a:t> ≤ 0,w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/>
              <a:t> é livre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195" name="Google Shape;195;p14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500313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4"/>
          <p:cNvSpPr txBox="1"/>
          <p:nvPr>
            <p:ph type="ctrTitle"/>
          </p:nvPr>
        </p:nvSpPr>
        <p:spPr>
          <a:xfrm>
            <a:off x="1045698" y="302365"/>
            <a:ext cx="10100603" cy="252169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ct val="100000"/>
              <a:buFont typeface="Bookman Old Style"/>
              <a:buNone/>
            </a:pPr>
            <a:r>
              <a:rPr b="1" lang="pt-BR" sz="36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Lema: </a:t>
            </a:r>
            <a:r>
              <a:rPr b="1" i="1" lang="pt-BR" sz="36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 valor da função objetivo para qualquer solução viável do problema de minimização é sempre maior ou igual ao valor da função objetivo para qualquer solução viável do problema de maximização.</a:t>
            </a:r>
            <a:endParaRPr i="1" sz="3600"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97" name="Google Shape;197;p14"/>
          <p:cNvSpPr txBox="1"/>
          <p:nvPr>
            <p:ph idx="1" type="subTitle"/>
          </p:nvPr>
        </p:nvSpPr>
        <p:spPr>
          <a:xfrm>
            <a:off x="1223589" y="3179688"/>
            <a:ext cx="9744820" cy="2837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Prova: Considere a forma canônica de dualidade e sejam x</a:t>
            </a:r>
            <a:r>
              <a:rPr baseline="-25000" lang="pt-BR"/>
              <a:t>0</a:t>
            </a:r>
            <a:r>
              <a:rPr lang="pt-BR"/>
              <a:t> e w</a:t>
            </a:r>
            <a:r>
              <a:rPr baseline="-25000" lang="pt-BR"/>
              <a:t>0</a:t>
            </a:r>
            <a:r>
              <a:rPr lang="pt-BR"/>
              <a:t>,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soluções viáveis do primal e dual, respectivamente. Então,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Ax</a:t>
            </a:r>
            <a:r>
              <a:rPr b="1" baseline="-25000" lang="pt-BR"/>
              <a:t>0</a:t>
            </a:r>
            <a:r>
              <a:rPr b="1" lang="pt-BR"/>
              <a:t> ≥ b</a:t>
            </a:r>
            <a:r>
              <a:rPr lang="pt-BR"/>
              <a:t>,</a:t>
            </a:r>
            <a:r>
              <a:rPr b="1" lang="pt-BR"/>
              <a:t> x</a:t>
            </a:r>
            <a:r>
              <a:rPr b="1" baseline="-25000" lang="pt-BR"/>
              <a:t>0</a:t>
            </a:r>
            <a:r>
              <a:rPr b="1" lang="pt-BR"/>
              <a:t> ≥ 0 </a:t>
            </a:r>
            <a:r>
              <a:rPr lang="pt-BR"/>
              <a:t>e</a:t>
            </a:r>
            <a:r>
              <a:rPr b="1" lang="pt-BR"/>
              <a:t> w</a:t>
            </a:r>
            <a:r>
              <a:rPr b="1" baseline="-25000" lang="pt-BR"/>
              <a:t>0</a:t>
            </a:r>
            <a:r>
              <a:rPr b="1" lang="pt-BR"/>
              <a:t>A ≤ c</a:t>
            </a:r>
            <a:r>
              <a:rPr lang="pt-BR"/>
              <a:t>,</a:t>
            </a:r>
            <a:r>
              <a:rPr b="1" lang="pt-BR"/>
              <a:t> w</a:t>
            </a:r>
            <a:r>
              <a:rPr b="1" baseline="-25000" lang="pt-BR"/>
              <a:t>0</a:t>
            </a:r>
            <a:r>
              <a:rPr b="1" lang="pt-BR"/>
              <a:t> ≥ 0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Fazendo as multiplicações adequadas temos: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w</a:t>
            </a:r>
            <a:r>
              <a:rPr b="1" baseline="-25000" lang="pt-BR"/>
              <a:t>0</a:t>
            </a:r>
            <a:r>
              <a:rPr b="1" lang="pt-BR"/>
              <a:t>Ax</a:t>
            </a:r>
            <a:r>
              <a:rPr b="1" baseline="-25000" lang="pt-BR"/>
              <a:t>0</a:t>
            </a:r>
            <a:r>
              <a:rPr b="1" lang="pt-BR"/>
              <a:t> ≥ w</a:t>
            </a:r>
            <a:r>
              <a:rPr b="1" baseline="-25000" lang="pt-BR"/>
              <a:t>0</a:t>
            </a:r>
            <a:r>
              <a:rPr b="1" lang="pt-BR"/>
              <a:t>b </a:t>
            </a:r>
            <a:r>
              <a:rPr lang="pt-BR"/>
              <a:t>e </a:t>
            </a:r>
            <a:r>
              <a:rPr b="1" lang="pt-BR"/>
              <a:t>w</a:t>
            </a:r>
            <a:r>
              <a:rPr b="1" baseline="-25000" lang="pt-BR"/>
              <a:t>0</a:t>
            </a:r>
            <a:r>
              <a:rPr b="1" lang="pt-BR"/>
              <a:t>Ax</a:t>
            </a:r>
            <a:r>
              <a:rPr b="1" baseline="-25000" lang="pt-BR"/>
              <a:t>0</a:t>
            </a:r>
            <a:r>
              <a:rPr b="1" lang="pt-BR"/>
              <a:t> ≤ cx</a:t>
            </a:r>
            <a:r>
              <a:rPr b="1" baseline="-25000" lang="pt-BR"/>
              <a:t>0</a:t>
            </a:r>
            <a:endParaRPr b="1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Portanto, </a:t>
            </a:r>
            <a:r>
              <a:rPr b="1" lang="pt-BR"/>
              <a:t>cx</a:t>
            </a:r>
            <a:r>
              <a:rPr b="1" baseline="-25000" lang="pt-BR"/>
              <a:t>0</a:t>
            </a:r>
            <a:r>
              <a:rPr b="1" lang="pt-BR"/>
              <a:t> ≥ w</a:t>
            </a:r>
            <a:r>
              <a:rPr b="1" baseline="-25000" lang="pt-BR"/>
              <a:t>0</a:t>
            </a:r>
            <a:r>
              <a:rPr b="1" lang="pt-BR"/>
              <a:t>Ax</a:t>
            </a:r>
            <a:r>
              <a:rPr b="1" baseline="-25000" lang="pt-BR"/>
              <a:t>0</a:t>
            </a:r>
            <a:r>
              <a:rPr b="1" lang="pt-BR"/>
              <a:t> ≥ w</a:t>
            </a:r>
            <a:r>
              <a:rPr b="1" baseline="-25000" lang="pt-BR"/>
              <a:t>0</a:t>
            </a:r>
            <a:r>
              <a:rPr b="1" lang="pt-BR"/>
              <a:t>b</a:t>
            </a:r>
            <a:r>
              <a:rPr lang="pt-BR"/>
              <a:t>.</a:t>
            </a:r>
            <a:endParaRPr/>
          </a:p>
        </p:txBody>
      </p:sp>
      <p:pic>
        <p:nvPicPr>
          <p:cNvPr descr="Ícone&#10;&#10;O conteúdo gerado por IA pode estar incorreto." id="198" name="Google Shape;1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203" name="Google Shape;203;p15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5"/>
          <p:cNvSpPr txBox="1"/>
          <p:nvPr>
            <p:ph type="ctrTitle"/>
          </p:nvPr>
        </p:nvSpPr>
        <p:spPr>
          <a:xfrm>
            <a:off x="1524000" y="643539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ct val="100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Corolário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5" name="Google Shape;205;p15"/>
          <p:cNvSpPr txBox="1"/>
          <p:nvPr>
            <p:ph idx="1" type="subTitle"/>
          </p:nvPr>
        </p:nvSpPr>
        <p:spPr>
          <a:xfrm>
            <a:off x="1401474" y="2800650"/>
            <a:ext cx="10442700" cy="3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Se x</a:t>
            </a:r>
            <a:r>
              <a:rPr b="1" baseline="-25000" lang="pt-BR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 e w</a:t>
            </a:r>
            <a:r>
              <a:rPr b="1" baseline="-25000" lang="pt-BR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 são soluções viáveis para o primal e dual,</a:t>
            </a:r>
            <a:r>
              <a:rPr lang="pt-BR"/>
              <a:t> </a:t>
            </a: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respectivamente, tal que cx</a:t>
            </a:r>
            <a:r>
              <a:rPr b="1" baseline="-25000" lang="pt-BR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 = w</a:t>
            </a:r>
            <a:r>
              <a:rPr b="1" baseline="-25000" lang="pt-BR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b, então x</a:t>
            </a:r>
            <a:r>
              <a:rPr b="1" baseline="-25000" lang="pt-BR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 e w</a:t>
            </a:r>
            <a:r>
              <a:rPr b="1" baseline="-25000" lang="pt-BR"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 são soluções</a:t>
            </a:r>
            <a:r>
              <a:rPr lang="pt-BR"/>
              <a:t> </a:t>
            </a: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ótimas para seus respectivos problemas.</a:t>
            </a:r>
            <a:endParaRPr b="1"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Ícone&#10;&#10;O conteúdo gerado por IA pode estar incorreto." id="206" name="Google Shape;2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211" name="Google Shape;211;p16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/>
          <p:nvPr>
            <p:ph type="ctrTitle"/>
          </p:nvPr>
        </p:nvSpPr>
        <p:spPr>
          <a:xfrm>
            <a:off x="1524000" y="1122363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ts val="4800"/>
              <a:buFont typeface="Bookman Old Style"/>
              <a:buNone/>
            </a:pPr>
            <a:r>
              <a:rPr b="1" lang="pt-BR" sz="48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Teorema Fundamental da Dualidade (TFC)</a:t>
            </a:r>
            <a:endParaRPr sz="4800"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13" name="Google Shape;213;p16"/>
          <p:cNvSpPr txBox="1"/>
          <p:nvPr>
            <p:ph idx="1" type="subTitle"/>
          </p:nvPr>
        </p:nvSpPr>
        <p:spPr>
          <a:xfrm>
            <a:off x="1401482" y="2150686"/>
            <a:ext cx="9389036" cy="3935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Com relação ao Primal e Dual exatamente uma das seguintes declarações é verdadeira: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1) Ambas possuem soluções  ótimas 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∗ e 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∗ em cx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∗ = w</a:t>
            </a:r>
            <a:r>
              <a:rPr baseline="-25000" lang="pt-BR"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pt-BR">
                <a:latin typeface="Calibri"/>
                <a:ea typeface="Calibri"/>
                <a:cs typeface="Calibri"/>
                <a:sym typeface="Calibri"/>
              </a:rPr>
              <a:t>∗b;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2) Se um dos problemas tem soluções ilimitadas, o outro deve ser infactível;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3) Se um dos problemas é infactível, o outro é infactível ou ilimitado.</a:t>
            </a:r>
            <a:endParaRPr/>
          </a:p>
        </p:txBody>
      </p:sp>
      <p:pic>
        <p:nvPicPr>
          <p:cNvPr descr="Ícone&#10;&#10;O conteúdo gerado por IA pode estar incorreto." id="214" name="Google Shape;2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219" name="Google Shape;219;p17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 txBox="1"/>
          <p:nvPr>
            <p:ph type="ctrTitle"/>
          </p:nvPr>
        </p:nvSpPr>
        <p:spPr>
          <a:xfrm>
            <a:off x="1524000" y="1122363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ts val="4800"/>
              <a:buFont typeface="Bookman Old Style"/>
              <a:buNone/>
            </a:pPr>
            <a:r>
              <a:rPr b="1" lang="pt-BR" sz="48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Teorema Fundamental da Dualidade (TFC)</a:t>
            </a:r>
            <a:endParaRPr sz="4800"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21" name="Google Shape;221;p17"/>
          <p:cNvSpPr txBox="1"/>
          <p:nvPr>
            <p:ph idx="1" type="subTitle"/>
          </p:nvPr>
        </p:nvSpPr>
        <p:spPr>
          <a:xfrm>
            <a:off x="1401482" y="2150686"/>
            <a:ext cx="9389036" cy="3935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>
                <a:latin typeface="Calibri"/>
                <a:ea typeface="Calibri"/>
                <a:cs typeface="Calibri"/>
                <a:sym typeface="Calibri"/>
              </a:rPr>
              <a:t>Teorema: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Se x∗ e w∗ são soluções ótimas do primal e do dual,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respectivamente, na forma canônica, então: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(cj − w∗a</a:t>
            </a:r>
            <a:r>
              <a:rPr b="1" baseline="-25000" lang="pt-BR"/>
              <a:t>j</a:t>
            </a:r>
            <a:r>
              <a:rPr b="1" lang="pt-BR"/>
              <a:t>)x</a:t>
            </a:r>
            <a:r>
              <a:rPr b="1" baseline="-25000" lang="pt-BR"/>
              <a:t>j</a:t>
            </a:r>
            <a:r>
              <a:rPr b="1" lang="pt-BR"/>
              <a:t>∗ = 0, j = 1, . . . , 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/>
              <a:t>Onde x</a:t>
            </a:r>
            <a:r>
              <a:rPr baseline="-25000" i="1" lang="pt-BR"/>
              <a:t>j</a:t>
            </a:r>
            <a:r>
              <a:rPr i="1" lang="pt-BR"/>
              <a:t>∗́e o vetor de soluções  ́ótimas do primal e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/>
              <a:t>w</a:t>
            </a:r>
            <a:r>
              <a:rPr b="1" baseline="-25000" lang="pt-BR"/>
              <a:t>i</a:t>
            </a:r>
            <a:r>
              <a:rPr b="1" lang="pt-BR"/>
              <a:t>∗(a</a:t>
            </a:r>
            <a:r>
              <a:rPr b="1" baseline="-25000" lang="pt-BR"/>
              <a:t>i</a:t>
            </a:r>
            <a:r>
              <a:rPr b="1" lang="pt-BR"/>
              <a:t> x∗ − b</a:t>
            </a:r>
            <a:r>
              <a:rPr b="1" baseline="-25000" lang="pt-BR"/>
              <a:t>i</a:t>
            </a:r>
            <a:r>
              <a:rPr b="1" lang="pt-BR"/>
              <a:t>) = 0, i = 1, . . . , 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pt-BR"/>
              <a:t>Onde w</a:t>
            </a:r>
            <a:r>
              <a:rPr baseline="-25000" i="1" lang="pt-BR"/>
              <a:t>i</a:t>
            </a:r>
            <a:r>
              <a:rPr i="1" lang="pt-BR"/>
              <a:t>∗ ́e o vetor de soluções  ótimas do dual.</a:t>
            </a:r>
            <a:endParaRPr/>
          </a:p>
        </p:txBody>
      </p:sp>
      <p:pic>
        <p:nvPicPr>
          <p:cNvPr descr="Ícone&#10;&#10;O conteúdo gerado por IA pode estar incorreto." id="222" name="Google Shape;22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227" name="Google Shape;227;p18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228" name="Google Shape;22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8"/>
          <p:cNvSpPr txBox="1"/>
          <p:nvPr/>
        </p:nvSpPr>
        <p:spPr>
          <a:xfrm>
            <a:off x="1524000" y="880000"/>
            <a:ext cx="95850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Prova: 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Sejam x∗ e w∗ soluções ótimas para o problema primal e o dual na forma canônica, respectivamente. Então, pela demonstração do lema, vimos que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1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cx* ≥ w*Ax* ≥ w*b.</a:t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 pelo TFD, temos que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cx∗ = w*b.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Portanto temos,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cx* = w*Ax* = w*b.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Disto temos, w*(Ax* − b) = 0 e (c − w*A)x* = 0. Visto que w* ≥ 0 e Ax* − b ≥ 0, então w*(Ax* − b) = 0 implica que w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*(a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x* − b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= 0,para i = 1, . . . , n. Analogamente, (c − w*A)x* = 0 implica que (c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− w*a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)x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= 0, para j = 1, . . . , n.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234" name="Google Shape;234;p19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235" name="Google Shape;23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1000593" y="823345"/>
            <a:ext cx="10190813" cy="5211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teorema indica que pelo menos um dos dois termos em cada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expressão dada deve ser zero. Em particular,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&gt; 0 ⇒ w*a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b="0" baseline="-2500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w*a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 c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⇒ x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*= 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&gt; 0 ⇒ a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x* = b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x* &gt; b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⇒ w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= 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Dessa forma, o TFC pode ser declarado como: sobre a otimalidade ”Se uma variável em um problema  ́e positiva, então a restrição correspondente no outro problema deve estar valendo na igualdade (ou seja, folga nula), e se uma restrição em um dos problemas não está valendo na igualdade (ou seja, folga positiva), então a variável no outro problema deve ser nula”.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241" name="Google Shape;241;p20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1000593" y="823345"/>
            <a:ext cx="10190813" cy="5211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Suponha que x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n+i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a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− b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≥ 0, i = 1, . . . , m são as m variáveis de folga do primal e seja w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m+j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− wa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≥ 0, j = 1, . . . , n as n variáveis de folga do dual. Então podemos reescrever as condições do TFC como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j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w*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m+j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j = 1, . . . , 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*x*</a:t>
            </a:r>
            <a:r>
              <a:rPr b="0" baseline="-2500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n+i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0, i = 1, . . . , m.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248" name="Google Shape;248;p21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1"/>
          <p:cNvSpPr txBox="1"/>
          <p:nvPr>
            <p:ph type="ctrTitle"/>
          </p:nvPr>
        </p:nvSpPr>
        <p:spPr>
          <a:xfrm>
            <a:off x="1524000" y="643539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ct val="100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Exemplo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50" name="Google Shape;250;p21"/>
          <p:cNvSpPr txBox="1"/>
          <p:nvPr>
            <p:ph idx="1" type="subTitle"/>
          </p:nvPr>
        </p:nvSpPr>
        <p:spPr>
          <a:xfrm>
            <a:off x="1401482" y="1738859"/>
            <a:ext cx="9389036" cy="4475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Use o dual para o resolver o PPL primal dado a seguir, aplicando o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Teorema das Folgas Complementares: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 : min 2x</a:t>
            </a:r>
            <a:r>
              <a:rPr baseline="-25000" lang="pt-BR"/>
              <a:t>1</a:t>
            </a:r>
            <a:r>
              <a:rPr lang="pt-BR"/>
              <a:t> + 3x</a:t>
            </a:r>
            <a:r>
              <a:rPr baseline="-25000" lang="pt-BR"/>
              <a:t>2</a:t>
            </a:r>
            <a:r>
              <a:rPr lang="pt-BR"/>
              <a:t> + 5x</a:t>
            </a:r>
            <a:r>
              <a:rPr baseline="-25000" lang="pt-BR"/>
              <a:t>3</a:t>
            </a:r>
            <a:r>
              <a:rPr lang="pt-BR"/>
              <a:t> + 2x</a:t>
            </a:r>
            <a:r>
              <a:rPr baseline="-25000" lang="pt-BR"/>
              <a:t>4</a:t>
            </a:r>
            <a:r>
              <a:rPr lang="pt-BR"/>
              <a:t> + 3x</a:t>
            </a:r>
            <a:r>
              <a:rPr baseline="-25000" lang="pt-BR"/>
              <a:t>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sujeito 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x</a:t>
            </a:r>
            <a:r>
              <a:rPr baseline="-25000" lang="pt-BR"/>
              <a:t>1</a:t>
            </a:r>
            <a:r>
              <a:rPr lang="pt-BR"/>
              <a:t> + x</a:t>
            </a:r>
            <a:r>
              <a:rPr baseline="-25000" lang="pt-BR"/>
              <a:t>2</a:t>
            </a:r>
            <a:r>
              <a:rPr lang="pt-BR"/>
              <a:t> + 2x</a:t>
            </a:r>
            <a:r>
              <a:rPr baseline="-25000" lang="pt-BR"/>
              <a:t>3</a:t>
            </a:r>
            <a:r>
              <a:rPr lang="pt-BR"/>
              <a:t> + x</a:t>
            </a:r>
            <a:r>
              <a:rPr baseline="-25000" lang="pt-BR"/>
              <a:t>4</a:t>
            </a:r>
            <a:r>
              <a:rPr lang="pt-BR"/>
              <a:t> + 3x</a:t>
            </a:r>
            <a:r>
              <a:rPr baseline="-25000" lang="pt-BR"/>
              <a:t>5</a:t>
            </a:r>
            <a:r>
              <a:rPr lang="pt-BR"/>
              <a:t> ≥ 4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2x</a:t>
            </a:r>
            <a:r>
              <a:rPr baseline="-25000" lang="pt-BR"/>
              <a:t>1</a:t>
            </a:r>
            <a:r>
              <a:rPr lang="pt-BR"/>
              <a:t> − 2x</a:t>
            </a:r>
            <a:r>
              <a:rPr baseline="-25000" lang="pt-BR"/>
              <a:t>2</a:t>
            </a:r>
            <a:r>
              <a:rPr lang="pt-BR"/>
              <a:t> + 3x</a:t>
            </a:r>
            <a:r>
              <a:rPr baseline="-25000" lang="pt-BR"/>
              <a:t>3</a:t>
            </a:r>
            <a:r>
              <a:rPr lang="pt-BR"/>
              <a:t>+ x</a:t>
            </a:r>
            <a:r>
              <a:rPr baseline="-25000" lang="pt-BR"/>
              <a:t>4</a:t>
            </a:r>
            <a:r>
              <a:rPr lang="pt-BR"/>
              <a:t> + x</a:t>
            </a:r>
            <a:r>
              <a:rPr baseline="-25000" lang="pt-BR"/>
              <a:t>5</a:t>
            </a:r>
            <a:r>
              <a:rPr lang="pt-BR"/>
              <a:t> ≥ 3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x</a:t>
            </a:r>
            <a:r>
              <a:rPr baseline="-25000" lang="pt-BR"/>
              <a:t>1</a:t>
            </a:r>
            <a:r>
              <a:rPr lang="pt-BR"/>
              <a:t>, x</a:t>
            </a:r>
            <a:r>
              <a:rPr baseline="-25000" lang="pt-BR"/>
              <a:t>2</a:t>
            </a:r>
            <a:r>
              <a:rPr lang="pt-BR"/>
              <a:t>, x</a:t>
            </a:r>
            <a:r>
              <a:rPr baseline="-25000" lang="pt-BR"/>
              <a:t>3</a:t>
            </a:r>
            <a:r>
              <a:rPr lang="pt-BR"/>
              <a:t>, x</a:t>
            </a:r>
            <a:r>
              <a:rPr baseline="-25000" lang="pt-BR"/>
              <a:t>4</a:t>
            </a:r>
            <a:r>
              <a:rPr lang="pt-BR"/>
              <a:t>, x</a:t>
            </a:r>
            <a:r>
              <a:rPr baseline="-25000" lang="pt-BR"/>
              <a:t>5</a:t>
            </a:r>
            <a:r>
              <a:rPr lang="pt-BR"/>
              <a:t> ≥ 0</a:t>
            </a:r>
            <a:endParaRPr/>
          </a:p>
        </p:txBody>
      </p:sp>
      <p:pic>
        <p:nvPicPr>
          <p:cNvPr descr="Ícone&#10;&#10;O conteúdo gerado por IA pode estar incorreto." id="251" name="Google Shape;2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Ícone&#10;&#10;O conteúdo gerado por IA pode estar incorreto." id="256" name="Google Shape;256;p22"/>
          <p:cNvPicPr preferRelativeResize="0"/>
          <p:nvPr/>
        </p:nvPicPr>
        <p:blipFill rotWithShape="1">
          <a:blip r:embed="rId3">
            <a:alphaModFix amt="20000"/>
          </a:blip>
          <a:srcRect b="0" l="0" r="0" t="0"/>
          <a:stretch/>
        </p:blipFill>
        <p:spPr>
          <a:xfrm>
            <a:off x="2286001" y="0"/>
            <a:ext cx="7191374" cy="6661198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>
            <p:ph type="ctrTitle"/>
          </p:nvPr>
        </p:nvSpPr>
        <p:spPr>
          <a:xfrm>
            <a:off x="1524000" y="643539"/>
            <a:ext cx="9144000" cy="8331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1D30"/>
              </a:buClr>
              <a:buSzPct val="100000"/>
              <a:buFont typeface="Bookman Old Style"/>
              <a:buNone/>
            </a:pPr>
            <a:r>
              <a:rPr b="1" lang="pt-BR" sz="6000">
                <a:solidFill>
                  <a:srgbClr val="0A1D3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Exemplo</a:t>
            </a:r>
            <a:endParaRPr>
              <a:solidFill>
                <a:srgbClr val="0F486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58" name="Google Shape;258;p22"/>
          <p:cNvSpPr txBox="1"/>
          <p:nvPr>
            <p:ph idx="1" type="subTitle"/>
          </p:nvPr>
        </p:nvSpPr>
        <p:spPr>
          <a:xfrm>
            <a:off x="1401482" y="1738859"/>
            <a:ext cx="9389036" cy="4475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O dual desse PPL  é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D : max 4w</a:t>
            </a:r>
            <a:r>
              <a:rPr baseline="-25000" lang="pt-BR"/>
              <a:t>1</a:t>
            </a:r>
            <a:r>
              <a:rPr lang="pt-BR"/>
              <a:t> + 3w</a:t>
            </a:r>
            <a:r>
              <a:rPr baseline="-25000" lang="pt-BR"/>
              <a:t>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sujeito 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w</a:t>
            </a:r>
            <a:r>
              <a:rPr baseline="-25000" lang="pt-BR"/>
              <a:t>1</a:t>
            </a:r>
            <a:r>
              <a:rPr lang="pt-BR"/>
              <a:t> + 2w</a:t>
            </a:r>
            <a:r>
              <a:rPr baseline="-25000" lang="pt-BR"/>
              <a:t>2</a:t>
            </a:r>
            <a:r>
              <a:rPr lang="pt-BR"/>
              <a:t> ≤ 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w</a:t>
            </a:r>
            <a:r>
              <a:rPr baseline="-25000" lang="pt-BR"/>
              <a:t>1</a:t>
            </a:r>
            <a:r>
              <a:rPr lang="pt-BR"/>
              <a:t> − 2w</a:t>
            </a:r>
            <a:r>
              <a:rPr baseline="-25000" lang="pt-BR"/>
              <a:t> 2</a:t>
            </a:r>
            <a:r>
              <a:rPr lang="pt-BR"/>
              <a:t> ≤ 3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2w</a:t>
            </a:r>
            <a:r>
              <a:rPr baseline="-25000" lang="pt-BR"/>
              <a:t>1</a:t>
            </a:r>
            <a:r>
              <a:rPr lang="pt-BR"/>
              <a:t> + 3w</a:t>
            </a:r>
            <a:r>
              <a:rPr baseline="-25000" lang="pt-BR"/>
              <a:t> 2</a:t>
            </a:r>
            <a:r>
              <a:rPr lang="pt-BR"/>
              <a:t> ≤ 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w</a:t>
            </a:r>
            <a:r>
              <a:rPr baseline="-25000" lang="pt-BR"/>
              <a:t>1</a:t>
            </a:r>
            <a:r>
              <a:rPr lang="pt-BR"/>
              <a:t> + w</a:t>
            </a:r>
            <a:r>
              <a:rPr baseline="-25000" lang="pt-BR"/>
              <a:t> 2</a:t>
            </a:r>
            <a:r>
              <a:rPr lang="pt-BR"/>
              <a:t> ≤ 2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3w</a:t>
            </a:r>
            <a:r>
              <a:rPr baseline="-25000" lang="pt-BR"/>
              <a:t>1</a:t>
            </a:r>
            <a:r>
              <a:rPr lang="pt-BR"/>
              <a:t> + w</a:t>
            </a:r>
            <a:r>
              <a:rPr baseline="-25000" lang="pt-BR"/>
              <a:t> 2</a:t>
            </a:r>
            <a:r>
              <a:rPr lang="pt-BR"/>
              <a:t> ≤ 3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w</a:t>
            </a:r>
            <a:r>
              <a:rPr baseline="-25000" lang="pt-BR"/>
              <a:t>1</a:t>
            </a:r>
            <a:r>
              <a:rPr lang="pt-BR"/>
              <a:t>,w</a:t>
            </a:r>
            <a:r>
              <a:rPr baseline="-25000" lang="pt-BR"/>
              <a:t> 2</a:t>
            </a:r>
            <a:r>
              <a:rPr lang="pt-BR"/>
              <a:t> ≥ 0</a:t>
            </a:r>
            <a:endParaRPr/>
          </a:p>
        </p:txBody>
      </p:sp>
      <p:pic>
        <p:nvPicPr>
          <p:cNvPr descr="Ícone&#10;&#10;O conteúdo gerado por IA pode estar incorreto." id="259" name="Google Shape;25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13035" y="11128"/>
            <a:ext cx="1270000" cy="12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2025-11-23T23:02:12Z</dcterms:created>
  <dc:creator>Ana Carolina Nel</dc:creator>
</cp:coreProperties>
</file>